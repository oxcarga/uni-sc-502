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" name="Shape 1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5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6" name="Shape 26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Hoy veremos cómo comparar valores y combinar condiciones en JavaScript: los operadores de comparación y los lógicos. Es la base de todo if y de toda decisión en el código.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46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47" name="Shape 47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Hay dos formas de comparar igualdad. El doble igual convierte tipos antes de comparar, lo que da sorpresas como que 5 igual al texto cinco sea verdadero. El triple igual compara valor y tipo, sin convertir. Los relacionales mayor, menor, etc., comparan magnitud. Recomendación general: usa siempre triple igual para evitar errores.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Shape 70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1" name="Shape 71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Los lógicos combinan condiciones. AND, el doble ampersand, es verdadero solo si ambas se cumplen. OR, la doble barra, basta con que una se cumpla. Y NOT, la admiración, invierte el valor. Se usan todo el tiempo dentro de los if para tomar decisiones.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Shape 87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88" name="Shape 88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Para cerrar: comparación con doble o triple igual; relacionales para magnitud; y lógicos para combinar condiciones. Y el consejo de oro: ante la duda, usa triple igual.</a:t>
            </a:r>
          </a:p>
        </p:txBody>
      </p:sp>
    </p:spTree>
  </p:cSld>
  <p:clrMapOvr>
    <a:masterClrMapping/>
  </p:clrMapOvr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609600" y="92074"/>
            <a:ext cx="10972800" cy="15081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616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0"/>
          <p:cNvSpPr txBox="1"/>
          <p:nvPr/>
        </p:nvSpPr>
        <p:spPr>
          <a:xfrm>
            <a:off x="45719" y="5429249"/>
            <a:ext cx="12070082" cy="662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4000">
                <a:solidFill>
                  <a:srgbClr val="2A2B36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=== &amp;&amp; || !==</a:t>
            </a:r>
          </a:p>
        </p:txBody>
      </p:sp>
      <p:sp>
        <p:nvSpPr>
          <p:cNvPr id="21" name="Shape 1"/>
          <p:cNvSpPr/>
          <p:nvPr/>
        </p:nvSpPr>
        <p:spPr>
          <a:xfrm>
            <a:off x="5074920" y="1051560"/>
            <a:ext cx="2011680" cy="2011680"/>
          </a:xfrm>
          <a:prstGeom prst="roundRect">
            <a:avLst>
              <a:gd name="adj" fmla="val 10000"/>
            </a:avLst>
          </a:prstGeom>
          <a:gradFill>
            <a:gsLst>
              <a:gs pos="0">
                <a:srgbClr val="70A6DB"/>
              </a:gs>
              <a:gs pos="50000">
                <a:srgbClr val="559BDB"/>
              </a:gs>
              <a:gs pos="100000">
                <a:srgbClr val="448AC9"/>
              </a:gs>
            </a:gsLst>
            <a:lin ang="5400000"/>
          </a:gradFill>
          <a:ln w="6350">
            <a:solidFill>
              <a:schemeClr val="accent5"/>
            </a:solidFill>
            <a:miter/>
          </a:ln>
        </p:spPr>
        <p:txBody>
          <a:bodyPr lIns="45719" rIns="45719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" name="Text 2"/>
          <p:cNvSpPr txBox="1"/>
          <p:nvPr/>
        </p:nvSpPr>
        <p:spPr>
          <a:xfrm>
            <a:off x="5120640" y="1555074"/>
            <a:ext cx="1920240" cy="10046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6400">
                <a:solidFill>
                  <a:srgbClr val="16161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PHP</a:t>
            </a:r>
          </a:p>
        </p:txBody>
      </p:sp>
      <p:sp>
        <p:nvSpPr>
          <p:cNvPr id="23" name="Text 3"/>
          <p:cNvSpPr txBox="1"/>
          <p:nvPr/>
        </p:nvSpPr>
        <p:spPr>
          <a:xfrm>
            <a:off x="960119" y="3539668"/>
            <a:ext cx="10241282" cy="6016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4000">
                <a:solidFill>
                  <a:srgbClr val="E6E6EC"/>
                </a:solidFill>
              </a:defRPr>
            </a:lvl1pPr>
          </a:lstStyle>
          <a:p>
            <a:pPr/>
            <a:r>
              <a:t>Operadores de comparación y lógicos</a:t>
            </a:r>
          </a:p>
        </p:txBody>
      </p:sp>
      <p:sp>
        <p:nvSpPr>
          <p:cNvPr id="24" name="Text 4"/>
          <p:cNvSpPr txBox="1"/>
          <p:nvPr/>
        </p:nvSpPr>
        <p:spPr>
          <a:xfrm>
            <a:off x="960119" y="4406857"/>
            <a:ext cx="10241282" cy="3302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900">
                <a:solidFill>
                  <a:srgbClr val="9CA3AF"/>
                </a:solidFill>
              </a:defRPr>
            </a:lvl1pPr>
          </a:lstStyle>
          <a:p>
            <a:pPr/>
            <a:r>
              <a:t>Cómo comparar valores y combinar condiciones en PHP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616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Image 0" descr="Image 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48640" y="457200"/>
            <a:ext cx="502920" cy="502920"/>
          </a:xfrm>
          <a:prstGeom prst="rect">
            <a:avLst/>
          </a:prstGeom>
          <a:ln w="12700">
            <a:miter lim="400000"/>
          </a:ln>
        </p:spPr>
      </p:pic>
      <p:sp>
        <p:nvSpPr>
          <p:cNvPr id="29" name="Text 0"/>
          <p:cNvSpPr txBox="1"/>
          <p:nvPr/>
        </p:nvSpPr>
        <p:spPr>
          <a:xfrm>
            <a:off x="1188719" y="532263"/>
            <a:ext cx="10058401" cy="3985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000">
                <a:solidFill>
                  <a:srgbClr val="E6E6EC"/>
                </a:solidFill>
              </a:defRPr>
            </a:lvl1pPr>
          </a:lstStyle>
          <a:p>
            <a:pPr/>
            <a:r>
              <a:t>Operadores de comparación</a:t>
            </a:r>
          </a:p>
        </p:txBody>
      </p:sp>
      <p:sp>
        <p:nvSpPr>
          <p:cNvPr id="30" name="Text 1"/>
          <p:cNvSpPr txBox="1"/>
          <p:nvPr/>
        </p:nvSpPr>
        <p:spPr>
          <a:xfrm>
            <a:off x="1188719" y="1102431"/>
            <a:ext cx="10058401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600">
                <a:solidFill>
                  <a:srgbClr val="9CA3AF"/>
                </a:solidFill>
              </a:defRPr>
            </a:lvl1pPr>
          </a:lstStyle>
          <a:p>
            <a:pPr/>
            <a:r>
              <a:t>Comparan dos valores y devuelven true o false</a:t>
            </a:r>
          </a:p>
        </p:txBody>
      </p:sp>
      <p:sp>
        <p:nvSpPr>
          <p:cNvPr id="31" name="Shape 2"/>
          <p:cNvSpPr/>
          <p:nvPr/>
        </p:nvSpPr>
        <p:spPr>
          <a:xfrm>
            <a:off x="548640" y="1691639"/>
            <a:ext cx="5212080" cy="2834641"/>
          </a:xfrm>
          <a:prstGeom prst="roundRect">
            <a:avLst>
              <a:gd name="adj" fmla="val 3226"/>
            </a:avLst>
          </a:prstGeom>
          <a:solidFill>
            <a:srgbClr val="21222C"/>
          </a:solidFill>
          <a:ln w="12700">
            <a:miter lim="400000"/>
          </a:ln>
          <a:effectLst>
            <a:outerShdw sx="100000" sy="100000" kx="0" ky="0" algn="b" rotWithShape="0" blurRad="101600" dist="38100" dir="5400000">
              <a:srgbClr val="000000">
                <a:alpha val="35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2" name="Text 3"/>
          <p:cNvSpPr txBox="1"/>
          <p:nvPr/>
        </p:nvSpPr>
        <p:spPr>
          <a:xfrm>
            <a:off x="822959" y="1944370"/>
            <a:ext cx="4663442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2200">
                <a:solidFill>
                  <a:srgbClr val="F7DF1E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==  </a:t>
            </a:r>
            <a:r>
              <a:rPr b="0">
                <a:solidFill>
                  <a:srgbClr val="9CA3AF"/>
                </a:solidFill>
                <a:latin typeface="+mn-lt"/>
                <a:ea typeface="+mn-ea"/>
                <a:cs typeface="+mn-cs"/>
                <a:sym typeface="Calibri"/>
              </a:rPr>
              <a:t>y  </a:t>
            </a:r>
            <a:r>
              <a:t>!=</a:t>
            </a:r>
          </a:p>
        </p:txBody>
      </p:sp>
      <p:sp>
        <p:nvSpPr>
          <p:cNvPr id="33" name="Text 4"/>
          <p:cNvSpPr txBox="1"/>
          <p:nvPr/>
        </p:nvSpPr>
        <p:spPr>
          <a:xfrm>
            <a:off x="822959" y="2561652"/>
            <a:ext cx="4663442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>
                <a:solidFill>
                  <a:srgbClr val="9CA3AF"/>
                </a:solidFill>
              </a:defRPr>
            </a:lvl1pPr>
          </a:lstStyle>
          <a:p>
            <a:pPr/>
            <a:r>
              <a:t>Igualdad débil — convierte el tipo antes de comparar (coerción)</a:t>
            </a:r>
          </a:p>
        </p:txBody>
      </p:sp>
      <p:sp>
        <p:nvSpPr>
          <p:cNvPr id="34" name="Shape 5"/>
          <p:cNvSpPr/>
          <p:nvPr/>
        </p:nvSpPr>
        <p:spPr>
          <a:xfrm>
            <a:off x="822960" y="3017520"/>
            <a:ext cx="4663441" cy="502921"/>
          </a:xfrm>
          <a:prstGeom prst="roundRect">
            <a:avLst>
              <a:gd name="adj" fmla="val 12727"/>
            </a:avLst>
          </a:prstGeom>
          <a:solidFill>
            <a:srgbClr val="2A2B3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5" name="Text 6"/>
          <p:cNvSpPr txBox="1"/>
          <p:nvPr/>
        </p:nvSpPr>
        <p:spPr>
          <a:xfrm>
            <a:off x="932687" y="3161029"/>
            <a:ext cx="4443986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1500">
                <a:solidFill>
                  <a:srgbClr val="C7D2FE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5 == "5"</a:t>
            </a:r>
            <a:r>
              <a:rPr>
                <a:solidFill>
                  <a:srgbClr val="9CA3AF"/>
                </a:solidFill>
              </a:rPr>
              <a:t>   →   </a:t>
            </a:r>
            <a:r>
              <a:rPr b="1">
                <a:solidFill>
                  <a:srgbClr val="4ADE80"/>
                </a:solidFill>
              </a:rPr>
              <a:t>true</a:t>
            </a:r>
          </a:p>
        </p:txBody>
      </p:sp>
      <p:sp>
        <p:nvSpPr>
          <p:cNvPr id="36" name="Shape 7"/>
          <p:cNvSpPr/>
          <p:nvPr/>
        </p:nvSpPr>
        <p:spPr>
          <a:xfrm>
            <a:off x="822960" y="3657600"/>
            <a:ext cx="4663441" cy="502920"/>
          </a:xfrm>
          <a:prstGeom prst="roundRect">
            <a:avLst>
              <a:gd name="adj" fmla="val 12727"/>
            </a:avLst>
          </a:prstGeom>
          <a:solidFill>
            <a:srgbClr val="2A2B3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7" name="Text 8"/>
          <p:cNvSpPr txBox="1"/>
          <p:nvPr/>
        </p:nvSpPr>
        <p:spPr>
          <a:xfrm>
            <a:off x="932687" y="3801109"/>
            <a:ext cx="4443986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1500">
                <a:solidFill>
                  <a:srgbClr val="C7D2FE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0 == false</a:t>
            </a:r>
            <a:r>
              <a:rPr>
                <a:solidFill>
                  <a:srgbClr val="9CA3AF"/>
                </a:solidFill>
              </a:rPr>
              <a:t>   →   </a:t>
            </a:r>
            <a:r>
              <a:rPr b="1">
                <a:solidFill>
                  <a:srgbClr val="4ADE80"/>
                </a:solidFill>
              </a:rPr>
              <a:t>true</a:t>
            </a:r>
          </a:p>
        </p:txBody>
      </p:sp>
      <p:sp>
        <p:nvSpPr>
          <p:cNvPr id="38" name="Shape 9"/>
          <p:cNvSpPr/>
          <p:nvPr/>
        </p:nvSpPr>
        <p:spPr>
          <a:xfrm>
            <a:off x="6400800" y="1691639"/>
            <a:ext cx="5212080" cy="2834641"/>
          </a:xfrm>
          <a:prstGeom prst="roundRect">
            <a:avLst>
              <a:gd name="adj" fmla="val 3226"/>
            </a:avLst>
          </a:prstGeom>
          <a:solidFill>
            <a:srgbClr val="21222C"/>
          </a:solidFill>
          <a:ln w="12700">
            <a:miter lim="400000"/>
          </a:ln>
          <a:effectLst>
            <a:outerShdw sx="100000" sy="100000" kx="0" ky="0" algn="b" rotWithShape="0" blurRad="101600" dist="38100" dir="5400000">
              <a:srgbClr val="000000">
                <a:alpha val="35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9" name="Text 10"/>
          <p:cNvSpPr txBox="1"/>
          <p:nvPr/>
        </p:nvSpPr>
        <p:spPr>
          <a:xfrm>
            <a:off x="6675119" y="1944370"/>
            <a:ext cx="4663441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2200">
                <a:solidFill>
                  <a:srgbClr val="4ADE8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===  </a:t>
            </a:r>
            <a:r>
              <a:rPr b="0">
                <a:solidFill>
                  <a:srgbClr val="9CA3AF"/>
                </a:solidFill>
                <a:latin typeface="+mn-lt"/>
                <a:ea typeface="+mn-ea"/>
                <a:cs typeface="+mn-cs"/>
                <a:sym typeface="Calibri"/>
              </a:rPr>
              <a:t>y  </a:t>
            </a:r>
            <a:r>
              <a:t>!==</a:t>
            </a:r>
          </a:p>
        </p:txBody>
      </p:sp>
      <p:sp>
        <p:nvSpPr>
          <p:cNvPr id="40" name="Text 11"/>
          <p:cNvSpPr txBox="1"/>
          <p:nvPr/>
        </p:nvSpPr>
        <p:spPr>
          <a:xfrm>
            <a:off x="6675119" y="2561652"/>
            <a:ext cx="466344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>
                <a:solidFill>
                  <a:srgbClr val="9CA3AF"/>
                </a:solidFill>
              </a:defRPr>
            </a:lvl1pPr>
          </a:lstStyle>
          <a:p>
            <a:pPr/>
            <a:r>
              <a:t>Igualdad estricta — compara valor Y tipo, sin convertir nada</a:t>
            </a:r>
          </a:p>
        </p:txBody>
      </p:sp>
      <p:sp>
        <p:nvSpPr>
          <p:cNvPr id="41" name="Shape 12"/>
          <p:cNvSpPr/>
          <p:nvPr/>
        </p:nvSpPr>
        <p:spPr>
          <a:xfrm>
            <a:off x="6675119" y="3017520"/>
            <a:ext cx="4663441" cy="502921"/>
          </a:xfrm>
          <a:prstGeom prst="roundRect">
            <a:avLst>
              <a:gd name="adj" fmla="val 12727"/>
            </a:avLst>
          </a:prstGeom>
          <a:solidFill>
            <a:srgbClr val="2A2B3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2" name="Text 13"/>
          <p:cNvSpPr txBox="1"/>
          <p:nvPr/>
        </p:nvSpPr>
        <p:spPr>
          <a:xfrm>
            <a:off x="6784847" y="3161029"/>
            <a:ext cx="4443985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1500">
                <a:solidFill>
                  <a:srgbClr val="C7D2FE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5 === "5"</a:t>
            </a:r>
            <a:r>
              <a:rPr>
                <a:solidFill>
                  <a:srgbClr val="9CA3AF"/>
                </a:solidFill>
              </a:rPr>
              <a:t>  →  </a:t>
            </a:r>
            <a:r>
              <a:rPr b="1">
                <a:solidFill>
                  <a:srgbClr val="F87171"/>
                </a:solidFill>
              </a:rPr>
              <a:t>false</a:t>
            </a:r>
          </a:p>
        </p:txBody>
      </p:sp>
      <p:sp>
        <p:nvSpPr>
          <p:cNvPr id="43" name="Shape 14"/>
          <p:cNvSpPr/>
          <p:nvPr/>
        </p:nvSpPr>
        <p:spPr>
          <a:xfrm>
            <a:off x="6675119" y="3657600"/>
            <a:ext cx="4663441" cy="502920"/>
          </a:xfrm>
          <a:prstGeom prst="roundRect">
            <a:avLst>
              <a:gd name="adj" fmla="val 12727"/>
            </a:avLst>
          </a:prstGeom>
          <a:solidFill>
            <a:srgbClr val="2A2B3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4" name="Text 15"/>
          <p:cNvSpPr txBox="1"/>
          <p:nvPr/>
        </p:nvSpPr>
        <p:spPr>
          <a:xfrm>
            <a:off x="6784847" y="3801109"/>
            <a:ext cx="4443985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1500">
                <a:solidFill>
                  <a:srgbClr val="C7D2FE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5 === 5</a:t>
            </a:r>
            <a:r>
              <a:rPr>
                <a:solidFill>
                  <a:srgbClr val="9CA3AF"/>
                </a:solidFill>
              </a:rPr>
              <a:t>     →  </a:t>
            </a:r>
            <a:r>
              <a:rPr b="1">
                <a:solidFill>
                  <a:srgbClr val="4ADE80"/>
                </a:solidFill>
              </a:rPr>
              <a:t>true</a:t>
            </a:r>
          </a:p>
        </p:txBody>
      </p:sp>
      <p:sp>
        <p:nvSpPr>
          <p:cNvPr id="45" name="Text 16"/>
          <p:cNvSpPr txBox="1"/>
          <p:nvPr/>
        </p:nvSpPr>
        <p:spPr>
          <a:xfrm>
            <a:off x="548639" y="5058410"/>
            <a:ext cx="11064242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b="1" sz="1500">
                <a:solidFill>
                  <a:srgbClr val="E6E6EC"/>
                </a:solidFill>
              </a:defRPr>
            </a:pPr>
            <a:r>
              <a:t>Relacionales:  </a:t>
            </a:r>
            <a:r>
              <a:rPr b="0">
                <a:solidFill>
                  <a:srgbClr val="F7DF1E"/>
                </a:solidFill>
                <a:latin typeface="Courier New"/>
                <a:ea typeface="Courier New"/>
                <a:cs typeface="Courier New"/>
                <a:sym typeface="Courier New"/>
              </a:rPr>
              <a:t>&gt;   &lt;   &gt;=   &lt;=</a:t>
            </a:r>
            <a:r>
              <a:rPr b="0">
                <a:solidFill>
                  <a:srgbClr val="9CA3AF"/>
                </a:solidFill>
              </a:rPr>
              <a:t>   comparan magnitud.    </a:t>
            </a:r>
            <a:r>
              <a:rPr b="0"/>
              <a:t>Recomendación: usa siempre </a:t>
            </a:r>
            <a:r>
              <a:rPr>
                <a:solidFill>
                  <a:srgbClr val="4ADE80"/>
                </a:solidFill>
                <a:latin typeface="Courier New"/>
                <a:ea typeface="Courier New"/>
                <a:cs typeface="Courier New"/>
                <a:sym typeface="Courier New"/>
              </a:rPr>
              <a:t>===</a:t>
            </a:r>
            <a:r>
              <a:rPr b="0"/>
              <a:t> y </a:t>
            </a:r>
            <a:r>
              <a:rPr>
                <a:solidFill>
                  <a:srgbClr val="4ADE80"/>
                </a:solidFill>
                <a:latin typeface="Courier New"/>
                <a:ea typeface="Courier New"/>
                <a:cs typeface="Courier New"/>
                <a:sym typeface="Courier New"/>
              </a:rPr>
              <a:t>!==</a:t>
            </a:r>
            <a:r>
              <a:rPr b="0"/>
              <a:t>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616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Image 0" descr="Image 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48640" y="457200"/>
            <a:ext cx="457201" cy="457200"/>
          </a:xfrm>
          <a:prstGeom prst="rect">
            <a:avLst/>
          </a:prstGeom>
          <a:ln w="12700">
            <a:miter lim="400000"/>
          </a:ln>
        </p:spPr>
      </p:pic>
      <p:sp>
        <p:nvSpPr>
          <p:cNvPr id="50" name="Text 0"/>
          <p:cNvSpPr txBox="1"/>
          <p:nvPr/>
        </p:nvSpPr>
        <p:spPr>
          <a:xfrm>
            <a:off x="1143000" y="532263"/>
            <a:ext cx="10058400" cy="3985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000">
                <a:solidFill>
                  <a:srgbClr val="E6E6EC"/>
                </a:solidFill>
              </a:defRPr>
            </a:lvl1pPr>
          </a:lstStyle>
          <a:p>
            <a:pPr/>
            <a:r>
              <a:t>Operadores lógicos</a:t>
            </a:r>
          </a:p>
        </p:txBody>
      </p:sp>
      <p:sp>
        <p:nvSpPr>
          <p:cNvPr id="51" name="Text 1"/>
          <p:cNvSpPr txBox="1"/>
          <p:nvPr/>
        </p:nvSpPr>
        <p:spPr>
          <a:xfrm>
            <a:off x="1143000" y="1102431"/>
            <a:ext cx="10058400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600">
                <a:solidFill>
                  <a:srgbClr val="9CA3AF"/>
                </a:solidFill>
              </a:defRPr>
            </a:lvl1pPr>
          </a:lstStyle>
          <a:p>
            <a:pPr/>
            <a:r>
              <a:t>Combinan o invierten condiciones booleanas</a:t>
            </a:r>
          </a:p>
        </p:txBody>
      </p:sp>
      <p:sp>
        <p:nvSpPr>
          <p:cNvPr id="52" name="Shape 2"/>
          <p:cNvSpPr/>
          <p:nvPr/>
        </p:nvSpPr>
        <p:spPr>
          <a:xfrm>
            <a:off x="548640" y="1691639"/>
            <a:ext cx="11064241" cy="1234441"/>
          </a:xfrm>
          <a:prstGeom prst="roundRect">
            <a:avLst>
              <a:gd name="adj" fmla="val 6667"/>
            </a:avLst>
          </a:prstGeom>
          <a:solidFill>
            <a:srgbClr val="21222C"/>
          </a:solidFill>
          <a:ln w="12700">
            <a:miter lim="400000"/>
          </a:ln>
          <a:effectLst>
            <a:outerShdw sx="100000" sy="100000" kx="0" ky="0" algn="b" rotWithShape="0" blurRad="101600" dist="38100" dir="5400000">
              <a:srgbClr val="000000">
                <a:alpha val="35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3" name="Shape 3"/>
          <p:cNvSpPr/>
          <p:nvPr/>
        </p:nvSpPr>
        <p:spPr>
          <a:xfrm>
            <a:off x="777240" y="1938527"/>
            <a:ext cx="1371601" cy="740665"/>
          </a:xfrm>
          <a:prstGeom prst="roundRect">
            <a:avLst>
              <a:gd name="adj" fmla="val 9877"/>
            </a:avLst>
          </a:prstGeom>
          <a:solidFill>
            <a:srgbClr val="2A2B3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4" name="Text 4"/>
          <p:cNvSpPr txBox="1"/>
          <p:nvPr/>
        </p:nvSpPr>
        <p:spPr>
          <a:xfrm>
            <a:off x="822960" y="2047239"/>
            <a:ext cx="1280161" cy="523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3000">
                <a:solidFill>
                  <a:srgbClr val="F7DF1E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&amp;&amp;</a:t>
            </a:r>
          </a:p>
        </p:txBody>
      </p:sp>
      <p:sp>
        <p:nvSpPr>
          <p:cNvPr id="55" name="Text 5"/>
          <p:cNvSpPr txBox="1"/>
          <p:nvPr/>
        </p:nvSpPr>
        <p:spPr>
          <a:xfrm>
            <a:off x="2377439" y="2068130"/>
            <a:ext cx="4206242" cy="4814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>
                <a:solidFill>
                  <a:srgbClr val="E6E6EC"/>
                </a:solidFill>
              </a:defRPr>
            </a:pPr>
            <a:r>
              <a:t>AND  (y)</a:t>
            </a:r>
          </a:p>
          <a:p>
            <a:pPr>
              <a:defRPr sz="1400">
                <a:solidFill>
                  <a:srgbClr val="9CA3AF"/>
                </a:solidFill>
              </a:defRPr>
            </a:pPr>
            <a:r>
              <a:t>Verdadero solo si AMBAS condiciones lo son</a:t>
            </a:r>
          </a:p>
        </p:txBody>
      </p:sp>
      <p:sp>
        <p:nvSpPr>
          <p:cNvPr id="56" name="Shape 6"/>
          <p:cNvSpPr/>
          <p:nvPr/>
        </p:nvSpPr>
        <p:spPr>
          <a:xfrm>
            <a:off x="6858000" y="1965960"/>
            <a:ext cx="4572000" cy="685801"/>
          </a:xfrm>
          <a:prstGeom prst="roundRect">
            <a:avLst>
              <a:gd name="adj" fmla="val 9333"/>
            </a:avLst>
          </a:prstGeom>
          <a:solidFill>
            <a:srgbClr val="2A2B3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7" name="Text 7"/>
          <p:cNvSpPr txBox="1"/>
          <p:nvPr/>
        </p:nvSpPr>
        <p:spPr>
          <a:xfrm>
            <a:off x="6995159" y="2140126"/>
            <a:ext cx="4297681" cy="3374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1400">
                <a:solidFill>
                  <a:srgbClr val="C7D2FE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edad &gt;= 18 &amp;&amp; tieneID</a:t>
            </a:r>
          </a:p>
          <a:p>
            <a:pPr>
              <a:defRPr i="1" sz="1100">
                <a:solidFill>
                  <a:srgbClr val="9CA3AF"/>
                </a:solidFill>
              </a:defRPr>
            </a:pPr>
            <a:r>
              <a:t>true si las dos se cumplen</a:t>
            </a:r>
          </a:p>
        </p:txBody>
      </p:sp>
      <p:sp>
        <p:nvSpPr>
          <p:cNvPr id="58" name="Shape 8"/>
          <p:cNvSpPr/>
          <p:nvPr/>
        </p:nvSpPr>
        <p:spPr>
          <a:xfrm>
            <a:off x="548640" y="3090672"/>
            <a:ext cx="11064241" cy="1234440"/>
          </a:xfrm>
          <a:prstGeom prst="roundRect">
            <a:avLst>
              <a:gd name="adj" fmla="val 6667"/>
            </a:avLst>
          </a:prstGeom>
          <a:solidFill>
            <a:srgbClr val="21222C"/>
          </a:solidFill>
          <a:ln w="12700">
            <a:miter lim="400000"/>
          </a:ln>
          <a:effectLst>
            <a:outerShdw sx="100000" sy="100000" kx="0" ky="0" algn="b" rotWithShape="0" blurRad="101600" dist="38100" dir="5400000">
              <a:srgbClr val="000000">
                <a:alpha val="35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9" name="Shape 9"/>
          <p:cNvSpPr/>
          <p:nvPr/>
        </p:nvSpPr>
        <p:spPr>
          <a:xfrm>
            <a:off x="777240" y="3337559"/>
            <a:ext cx="1371601" cy="740665"/>
          </a:xfrm>
          <a:prstGeom prst="roundRect">
            <a:avLst>
              <a:gd name="adj" fmla="val 9877"/>
            </a:avLst>
          </a:prstGeom>
          <a:solidFill>
            <a:srgbClr val="2A2B3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0" name="Text 10"/>
          <p:cNvSpPr txBox="1"/>
          <p:nvPr/>
        </p:nvSpPr>
        <p:spPr>
          <a:xfrm>
            <a:off x="822960" y="3446271"/>
            <a:ext cx="1280161" cy="523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3000">
                <a:solidFill>
                  <a:srgbClr val="F7DF1E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||</a:t>
            </a:r>
          </a:p>
        </p:txBody>
      </p:sp>
      <p:sp>
        <p:nvSpPr>
          <p:cNvPr id="61" name="Text 11"/>
          <p:cNvSpPr txBox="1"/>
          <p:nvPr/>
        </p:nvSpPr>
        <p:spPr>
          <a:xfrm>
            <a:off x="2377439" y="3467162"/>
            <a:ext cx="4206242" cy="4814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>
                <a:solidFill>
                  <a:srgbClr val="E6E6EC"/>
                </a:solidFill>
              </a:defRPr>
            </a:pPr>
            <a:r>
              <a:t>OR  (o)</a:t>
            </a:r>
          </a:p>
          <a:p>
            <a:pPr>
              <a:defRPr sz="1400">
                <a:solidFill>
                  <a:srgbClr val="9CA3AF"/>
                </a:solidFill>
              </a:defRPr>
            </a:pPr>
            <a:r>
              <a:t>Verdadero si AL MENOS UNA lo es</a:t>
            </a:r>
          </a:p>
        </p:txBody>
      </p:sp>
      <p:sp>
        <p:nvSpPr>
          <p:cNvPr id="62" name="Shape 12"/>
          <p:cNvSpPr/>
          <p:nvPr/>
        </p:nvSpPr>
        <p:spPr>
          <a:xfrm>
            <a:off x="6858000" y="3364991"/>
            <a:ext cx="4572000" cy="685801"/>
          </a:xfrm>
          <a:prstGeom prst="roundRect">
            <a:avLst>
              <a:gd name="adj" fmla="val 9333"/>
            </a:avLst>
          </a:prstGeom>
          <a:solidFill>
            <a:srgbClr val="2A2B3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3" name="Text 13"/>
          <p:cNvSpPr txBox="1"/>
          <p:nvPr/>
        </p:nvSpPr>
        <p:spPr>
          <a:xfrm>
            <a:off x="6995159" y="3539158"/>
            <a:ext cx="4297681" cy="3374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1400">
                <a:solidFill>
                  <a:srgbClr val="C7D2FE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esFinde || esFeriado</a:t>
            </a:r>
          </a:p>
          <a:p>
            <a:pPr>
              <a:defRPr i="1" sz="1100">
                <a:solidFill>
                  <a:srgbClr val="9CA3AF"/>
                </a:solidFill>
              </a:defRPr>
            </a:pPr>
            <a:r>
              <a:t>true si alguna se cumple</a:t>
            </a:r>
          </a:p>
        </p:txBody>
      </p:sp>
      <p:sp>
        <p:nvSpPr>
          <p:cNvPr id="64" name="Shape 14"/>
          <p:cNvSpPr/>
          <p:nvPr/>
        </p:nvSpPr>
        <p:spPr>
          <a:xfrm>
            <a:off x="548640" y="4489703"/>
            <a:ext cx="11064241" cy="1234441"/>
          </a:xfrm>
          <a:prstGeom prst="roundRect">
            <a:avLst>
              <a:gd name="adj" fmla="val 6667"/>
            </a:avLst>
          </a:prstGeom>
          <a:solidFill>
            <a:srgbClr val="21222C"/>
          </a:solidFill>
          <a:ln w="12700">
            <a:miter lim="400000"/>
          </a:ln>
          <a:effectLst>
            <a:outerShdw sx="100000" sy="100000" kx="0" ky="0" algn="b" rotWithShape="0" blurRad="101600" dist="38100" dir="5400000">
              <a:srgbClr val="000000">
                <a:alpha val="35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5" name="Shape 15"/>
          <p:cNvSpPr/>
          <p:nvPr/>
        </p:nvSpPr>
        <p:spPr>
          <a:xfrm>
            <a:off x="777240" y="4736591"/>
            <a:ext cx="1371601" cy="740665"/>
          </a:xfrm>
          <a:prstGeom prst="roundRect">
            <a:avLst>
              <a:gd name="adj" fmla="val 9877"/>
            </a:avLst>
          </a:prstGeom>
          <a:solidFill>
            <a:srgbClr val="2A2B3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6" name="Text 16"/>
          <p:cNvSpPr txBox="1"/>
          <p:nvPr/>
        </p:nvSpPr>
        <p:spPr>
          <a:xfrm>
            <a:off x="822960" y="4845303"/>
            <a:ext cx="1280161" cy="523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3000">
                <a:solidFill>
                  <a:srgbClr val="F7DF1E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!</a:t>
            </a:r>
          </a:p>
        </p:txBody>
      </p:sp>
      <p:sp>
        <p:nvSpPr>
          <p:cNvPr id="67" name="Text 17"/>
          <p:cNvSpPr txBox="1"/>
          <p:nvPr/>
        </p:nvSpPr>
        <p:spPr>
          <a:xfrm>
            <a:off x="2377439" y="4866194"/>
            <a:ext cx="4206242" cy="4814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>
                <a:solidFill>
                  <a:srgbClr val="E6E6EC"/>
                </a:solidFill>
              </a:defRPr>
            </a:pPr>
            <a:r>
              <a:t>NOT  (no)</a:t>
            </a:r>
          </a:p>
          <a:p>
            <a:pPr>
              <a:defRPr sz="1400">
                <a:solidFill>
                  <a:srgbClr val="9CA3AF"/>
                </a:solidFill>
              </a:defRPr>
            </a:pPr>
            <a:r>
              <a:t>Invierte el valor: true ↔ false</a:t>
            </a:r>
          </a:p>
        </p:txBody>
      </p:sp>
      <p:sp>
        <p:nvSpPr>
          <p:cNvPr id="68" name="Shape 18"/>
          <p:cNvSpPr/>
          <p:nvPr/>
        </p:nvSpPr>
        <p:spPr>
          <a:xfrm>
            <a:off x="6858000" y="4764023"/>
            <a:ext cx="4572000" cy="685801"/>
          </a:xfrm>
          <a:prstGeom prst="roundRect">
            <a:avLst>
              <a:gd name="adj" fmla="val 9333"/>
            </a:avLst>
          </a:prstGeom>
          <a:solidFill>
            <a:srgbClr val="2A2B3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9" name="Text 19"/>
          <p:cNvSpPr txBox="1"/>
          <p:nvPr/>
        </p:nvSpPr>
        <p:spPr>
          <a:xfrm>
            <a:off x="6995159" y="4938190"/>
            <a:ext cx="4297681" cy="3374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1400">
                <a:solidFill>
                  <a:srgbClr val="C7D2FE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!estaLogueado</a:t>
            </a:r>
          </a:p>
          <a:p>
            <a:pPr>
              <a:defRPr i="1" sz="1100">
                <a:solidFill>
                  <a:srgbClr val="9CA3AF"/>
                </a:solidFill>
              </a:defRPr>
            </a:pPr>
            <a:r>
              <a:t>true si NO está logueado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616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Text 0"/>
          <p:cNvSpPr txBox="1"/>
          <p:nvPr/>
        </p:nvSpPr>
        <p:spPr>
          <a:xfrm>
            <a:off x="548640" y="577983"/>
            <a:ext cx="10058401" cy="3985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000">
                <a:solidFill>
                  <a:srgbClr val="E6E6EC"/>
                </a:solidFill>
              </a:defRPr>
            </a:lvl1pPr>
          </a:lstStyle>
          <a:p>
            <a:pPr/>
            <a:r>
              <a:t>En resumen</a:t>
            </a:r>
          </a:p>
        </p:txBody>
      </p:sp>
      <p:sp>
        <p:nvSpPr>
          <p:cNvPr id="74" name="Shape 1"/>
          <p:cNvSpPr/>
          <p:nvPr/>
        </p:nvSpPr>
        <p:spPr>
          <a:xfrm>
            <a:off x="548640" y="1463039"/>
            <a:ext cx="11064241" cy="1143001"/>
          </a:xfrm>
          <a:prstGeom prst="roundRect">
            <a:avLst>
              <a:gd name="adj" fmla="val 7200"/>
            </a:avLst>
          </a:prstGeom>
          <a:solidFill>
            <a:srgbClr val="21222C"/>
          </a:solidFill>
          <a:ln w="12700">
            <a:miter lim="400000"/>
          </a:ln>
          <a:effectLst>
            <a:outerShdw sx="100000" sy="100000" kx="0" ky="0" algn="b" rotWithShape="0" blurRad="101600" dist="38100" dir="5400000">
              <a:srgbClr val="000000">
                <a:alpha val="35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5" name="Shape 2"/>
          <p:cNvSpPr/>
          <p:nvPr/>
        </p:nvSpPr>
        <p:spPr>
          <a:xfrm>
            <a:off x="868680" y="1645920"/>
            <a:ext cx="777241" cy="777241"/>
          </a:xfrm>
          <a:prstGeom prst="ellipse">
            <a:avLst/>
          </a:prstGeom>
          <a:solidFill>
            <a:srgbClr val="2A2B3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76" name="Image 0" descr="Image 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83563" y="1860804"/>
            <a:ext cx="347474" cy="347473"/>
          </a:xfrm>
          <a:prstGeom prst="rect">
            <a:avLst/>
          </a:prstGeom>
          <a:ln w="12700">
            <a:miter lim="400000"/>
          </a:ln>
        </p:spPr>
      </p:pic>
      <p:sp>
        <p:nvSpPr>
          <p:cNvPr id="77" name="Text 3"/>
          <p:cNvSpPr txBox="1"/>
          <p:nvPr/>
        </p:nvSpPr>
        <p:spPr>
          <a:xfrm>
            <a:off x="1920240" y="1795211"/>
            <a:ext cx="9509760" cy="4786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900">
                <a:solidFill>
                  <a:srgbClr val="F7DF1E"/>
                </a:solidFill>
              </a:defRPr>
            </a:pPr>
            <a:r>
              <a:t>Comparación</a:t>
            </a:r>
          </a:p>
          <a:p>
            <a:pPr>
              <a:defRPr sz="1500">
                <a:solidFill>
                  <a:srgbClr val="E6E6EC"/>
                </a:solidFill>
              </a:defRPr>
            </a:pPr>
            <a:r>
              <a:t>== / != comparan con coerción de tipo;  === / !== comparan valor y tipo.</a:t>
            </a:r>
          </a:p>
        </p:txBody>
      </p:sp>
      <p:sp>
        <p:nvSpPr>
          <p:cNvPr id="78" name="Shape 4"/>
          <p:cNvSpPr/>
          <p:nvPr/>
        </p:nvSpPr>
        <p:spPr>
          <a:xfrm>
            <a:off x="548640" y="2788920"/>
            <a:ext cx="11064241" cy="1143001"/>
          </a:xfrm>
          <a:prstGeom prst="roundRect">
            <a:avLst>
              <a:gd name="adj" fmla="val 7200"/>
            </a:avLst>
          </a:prstGeom>
          <a:solidFill>
            <a:srgbClr val="21222C"/>
          </a:solidFill>
          <a:ln w="12700">
            <a:miter lim="400000"/>
          </a:ln>
          <a:effectLst>
            <a:outerShdw sx="100000" sy="100000" kx="0" ky="0" algn="b" rotWithShape="0" blurRad="101600" dist="38100" dir="5400000">
              <a:srgbClr val="000000">
                <a:alpha val="35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9" name="Shape 5"/>
          <p:cNvSpPr/>
          <p:nvPr/>
        </p:nvSpPr>
        <p:spPr>
          <a:xfrm>
            <a:off x="868680" y="2971799"/>
            <a:ext cx="777241" cy="777242"/>
          </a:xfrm>
          <a:prstGeom prst="ellipse">
            <a:avLst/>
          </a:prstGeom>
          <a:solidFill>
            <a:srgbClr val="2A2B3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80" name="Image 1" descr="Image 1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083563" y="3186683"/>
            <a:ext cx="347474" cy="347473"/>
          </a:xfrm>
          <a:prstGeom prst="rect">
            <a:avLst/>
          </a:prstGeom>
          <a:ln w="12700">
            <a:miter lim="400000"/>
          </a:ln>
        </p:spPr>
      </p:pic>
      <p:sp>
        <p:nvSpPr>
          <p:cNvPr id="81" name="Text 6"/>
          <p:cNvSpPr txBox="1"/>
          <p:nvPr/>
        </p:nvSpPr>
        <p:spPr>
          <a:xfrm>
            <a:off x="1920240" y="3121092"/>
            <a:ext cx="9509760" cy="4786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900">
                <a:solidFill>
                  <a:srgbClr val="F7DF1E"/>
                </a:solidFill>
              </a:defRPr>
            </a:pPr>
            <a:r>
              <a:t>Relacionales</a:t>
            </a:r>
          </a:p>
          <a:p>
            <a:pPr>
              <a:defRPr sz="1500">
                <a:solidFill>
                  <a:srgbClr val="E6E6EC"/>
                </a:solidFill>
              </a:defRPr>
            </a:pPr>
            <a:r>
              <a:t>&gt;   &lt;   &gt;=   &lt;=  comparan la magnitud de los valores.</a:t>
            </a:r>
          </a:p>
        </p:txBody>
      </p:sp>
      <p:sp>
        <p:nvSpPr>
          <p:cNvPr id="82" name="Shape 7"/>
          <p:cNvSpPr/>
          <p:nvPr/>
        </p:nvSpPr>
        <p:spPr>
          <a:xfrm>
            <a:off x="548640" y="4114800"/>
            <a:ext cx="11064241" cy="1143000"/>
          </a:xfrm>
          <a:prstGeom prst="roundRect">
            <a:avLst>
              <a:gd name="adj" fmla="val 7200"/>
            </a:avLst>
          </a:prstGeom>
          <a:solidFill>
            <a:srgbClr val="21222C"/>
          </a:solidFill>
          <a:ln w="12700">
            <a:miter lim="400000"/>
          </a:ln>
          <a:effectLst>
            <a:outerShdw sx="100000" sy="100000" kx="0" ky="0" algn="b" rotWithShape="0" blurRad="101600" dist="38100" dir="5400000">
              <a:srgbClr val="000000">
                <a:alpha val="35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3" name="Shape 8"/>
          <p:cNvSpPr/>
          <p:nvPr/>
        </p:nvSpPr>
        <p:spPr>
          <a:xfrm>
            <a:off x="868680" y="4297679"/>
            <a:ext cx="777241" cy="777241"/>
          </a:xfrm>
          <a:prstGeom prst="ellipse">
            <a:avLst/>
          </a:prstGeom>
          <a:solidFill>
            <a:srgbClr val="2A2B3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84" name="Image 2" descr="Image 2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1083563" y="4512564"/>
            <a:ext cx="347474" cy="347473"/>
          </a:xfrm>
          <a:prstGeom prst="rect">
            <a:avLst/>
          </a:prstGeom>
          <a:ln w="12700">
            <a:miter lim="400000"/>
          </a:ln>
        </p:spPr>
      </p:pic>
      <p:sp>
        <p:nvSpPr>
          <p:cNvPr id="85" name="Text 9"/>
          <p:cNvSpPr txBox="1"/>
          <p:nvPr/>
        </p:nvSpPr>
        <p:spPr>
          <a:xfrm>
            <a:off x="1920240" y="4446971"/>
            <a:ext cx="9509760" cy="4786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900">
                <a:solidFill>
                  <a:srgbClr val="F7DF1E"/>
                </a:solidFill>
              </a:defRPr>
            </a:pPr>
            <a:r>
              <a:t>Lógicos</a:t>
            </a:r>
          </a:p>
          <a:p>
            <a:pPr>
              <a:defRPr sz="1500">
                <a:solidFill>
                  <a:srgbClr val="E6E6EC"/>
                </a:solidFill>
              </a:defRPr>
            </a:pPr>
            <a:r>
              <a:t>&amp;&amp; exige ambas,  || basta con una,  ! invierte la condición.</a:t>
            </a:r>
          </a:p>
        </p:txBody>
      </p:sp>
      <p:sp>
        <p:nvSpPr>
          <p:cNvPr id="86" name="Text 10"/>
          <p:cNvSpPr txBox="1"/>
          <p:nvPr/>
        </p:nvSpPr>
        <p:spPr>
          <a:xfrm>
            <a:off x="594359" y="6078922"/>
            <a:ext cx="10972802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i="1" sz="1500">
                <a:solidFill>
                  <a:srgbClr val="9CA3AF"/>
                </a:solidFill>
              </a:defRPr>
            </a:lvl1pPr>
          </a:lstStyle>
          <a:p>
            <a:pPr/>
            <a:r>
              <a:t>Tip: ante la duda, usa === — evita errores difíciles de detectar.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