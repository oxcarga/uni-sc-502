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371600"/>
            <a:ext cx="3657600" cy="3657600"/>
          </a:xfrm>
          <a:prstGeom prst="ellipse">
            <a:avLst/>
          </a:prstGeom>
          <a:solidFill>
            <a:srgbClr val="243447"/>
          </a:solidFill>
          <a:ln w="254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548640"/>
            <a:ext cx="2011680" cy="2011680"/>
          </a:xfrm>
          <a:prstGeom prst="ellipse">
            <a:avLst/>
          </a:prstGeom>
          <a:solidFill>
            <a:srgbClr val="1A9B8C">
              <a:alpha val="20000"/>
            </a:srgbClr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11480"/>
            <a:ext cx="777240" cy="777240"/>
          </a:xfrm>
          <a:prstGeom prst="ellipse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4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🩸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760" y="4754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Admin  /  HemoLink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HemoLink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640080" y="2542032"/>
            <a:ext cx="292608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974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de Gestión y Notificación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Conexión entre Donantes de Sangre y Bancos de Sangre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45354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SC-502 Ambiente Web Cliente Servidor  •  Universidad Fidélitas, San José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HemoLink es una aplicación web cliente-servidor orientada a optimizar la comunicación entre los bancos de sangre y los donantes voluntarios en Costa Rica.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965960"/>
            <a:ext cx="2697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965960"/>
            <a:ext cx="2697480" cy="91440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2194560"/>
            <a:ext cx="777240" cy="777240"/>
          </a:xfrm>
          <a:prstGeom prst="ellipse">
            <a:avLst/>
          </a:prstGeom>
          <a:solidFill>
            <a:srgbClr val="E0F5F3"/>
          </a:solidFill>
          <a:ln w="19050">
            <a:solidFill>
              <a:srgbClr val="1A9B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21671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30906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Segmentadas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" y="3621024"/>
            <a:ext cx="2478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de salud publican alertas por tipo sanguíneo y localidad.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1965960"/>
            <a:ext cx="2697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965960"/>
            <a:ext cx="2697480" cy="91440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2194560"/>
            <a:ext cx="777240" cy="777240"/>
          </a:xfrm>
          <a:prstGeom prst="ellipse">
            <a:avLst/>
          </a:prstGeom>
          <a:solidFill>
            <a:srgbClr val="FFF0F2"/>
          </a:solidFill>
          <a:ln w="19050">
            <a:solidFill>
              <a:srgbClr val="E844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1671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91840" y="30906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Automáticas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3621024"/>
            <a:ext cx="2478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electrónico y notificaciones push a donantes compatibles.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1965960"/>
            <a:ext cx="2697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965960"/>
            <a:ext cx="2697480" cy="9144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2194560"/>
            <a:ext cx="777240" cy="777240"/>
          </a:xfrm>
          <a:prstGeom prst="ellipse">
            <a:avLst/>
          </a:prstGeom>
          <a:solidFill>
            <a:srgbClr val="E8F8F3"/>
          </a:solidFill>
          <a:ln w="19050">
            <a:solidFill>
              <a:srgbClr val="2ECC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1671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172200" y="30906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Directa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90488" y="3621024"/>
            <a:ext cx="2478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Donantes confirman disponibilidad con enlace directo al banco de sangre.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Planteamiento del Problema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73152" cy="804672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🩸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43000" y="1298448"/>
            <a:ext cx="777240" cy="274320"/>
          </a:xfrm>
          <a:prstGeom prst="rect">
            <a:avLst/>
          </a:prstGeom>
          <a:solidFill>
            <a:srgbClr val="FFE8EB"/>
          </a:solidFill>
          <a:ln w="6350">
            <a:solidFill>
              <a:srgbClr val="E844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2984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11680" y="11887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Déficits recurrentes en tipos sanguíneos: O negativo, AB positivo y B negativo (CCSS y Cruz Roja CR).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57400"/>
            <a:ext cx="73152" cy="804672"/>
          </a:xfrm>
          <a:prstGeom prst="rect">
            <a:avLst/>
          </a:prstGeom>
          <a:solidFill>
            <a:srgbClr val="B07000"/>
          </a:solidFill>
          <a:ln w="12700">
            <a:solidFill>
              <a:srgbClr val="B07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143000" y="2258568"/>
            <a:ext cx="777240" cy="274320"/>
          </a:xfrm>
          <a:prstGeom prst="rect">
            <a:avLst/>
          </a:prstGeom>
          <a:solidFill>
            <a:srgbClr val="FFF8E0"/>
          </a:solidFill>
          <a:ln w="6350">
            <a:solidFill>
              <a:srgbClr val="B07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2585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11680" y="214884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actual depende de redes sociales y mensajería sin segmentación por tipo sanguíneo o ubicación.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17520"/>
            <a:ext cx="73152" cy="804672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143000" y="3218688"/>
            <a:ext cx="777240" cy="274320"/>
          </a:xfrm>
          <a:prstGeom prst="rect">
            <a:avLst/>
          </a:prstGeom>
          <a:solidFill>
            <a:srgbClr val="FFE8EB"/>
          </a:solidFill>
          <a:ln w="6350">
            <a:solidFill>
              <a:srgbClr val="E844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3218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011680" y="310896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lenta, ineficiente y tardía ante emergencias de desabastecimiento de sangre.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397764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977640"/>
            <a:ext cx="73152" cy="804672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💔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143000" y="4178808"/>
            <a:ext cx="777240" cy="274320"/>
          </a:xfrm>
          <a:prstGeom prst="rect">
            <a:avLst/>
          </a:prstGeom>
          <a:solidFill>
            <a:srgbClr val="E0F5F3"/>
          </a:solidFill>
          <a:ln w="6350">
            <a:solidFill>
              <a:srgbClr val="1A9B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41788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011680" y="40690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sistema digital que conecte bancos de sangre con donantes compatibles en tiempo real.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Antecedentes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160520" cy="594360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Internacional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56032" cy="256032"/>
          </a:xfrm>
          <a:prstGeom prst="ellipse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19072"/>
            <a:ext cx="3456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 Roja Americana: app que permite registrar tipo sanguíneo y recibir notificaciones por zona.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3749040" cy="0"/>
          </a:xfrm>
          <a:prstGeom prst="line">
            <a:avLst/>
          </a:prstGeom>
          <a:noFill/>
          <a:ln w="12700">
            <a:solidFill>
              <a:srgbClr val="E5EA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264408"/>
            <a:ext cx="256032" cy="256032"/>
          </a:xfrm>
          <a:prstGeom prst="ellipse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200400"/>
            <a:ext cx="3456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España y Reino Unido: plataformas digitales integradas con sistemas hospitalarios que aumentaron significativamente las tasas de donación.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0060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097280"/>
            <a:ext cx="4160520" cy="594360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0972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🇨🇷  Costa Rica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83480" y="1783080"/>
            <a:ext cx="256032" cy="256032"/>
          </a:xfrm>
          <a:prstGeom prst="ellipse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0952" y="1719072"/>
            <a:ext cx="3456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CCSS: portal web informativo sin sistema de notificación personalizada ni canal de confirmación de disponibilidad.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983480" y="2971800"/>
            <a:ext cx="3749040" cy="0"/>
          </a:xfrm>
          <a:prstGeom prst="line">
            <a:avLst/>
          </a:prstGeom>
          <a:noFill/>
          <a:ln w="12700">
            <a:solidFill>
              <a:srgbClr val="E5EA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83480" y="3264408"/>
            <a:ext cx="256032" cy="256032"/>
          </a:xfrm>
          <a:prstGeom prst="ellipse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0952" y="3200400"/>
            <a:ext cx="3456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 Roja CR: convocatorias vía redes sociales sin integración con una base de datos de donantes registrados.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del Proyecto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960120"/>
          </a:xfrm>
          <a:prstGeom prst="rect">
            <a:avLst/>
          </a:prstGeom>
          <a:solidFill>
            <a:srgbClr val="E0F5F3"/>
          </a:solidFill>
          <a:ln w="19050">
            <a:solidFill>
              <a:srgbClr val="1A9B8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73152" cy="960120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aplicación web cliente-servidor que permita a los bancos de sangre publicar necesidades específicas por tipo sanguíneo y localidad, y notificar automáticamente a donantes compatibles registrados.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606040"/>
            <a:ext cx="41605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788920"/>
            <a:ext cx="301752" cy="301752"/>
          </a:xfrm>
          <a:prstGeom prst="ellipse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0392" y="2679192"/>
            <a:ext cx="35021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registro y autenticación con tipo sanguíneo, historial y ubicación.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2606040"/>
            <a:ext cx="41605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2788920"/>
            <a:ext cx="301752" cy="301752"/>
          </a:xfrm>
          <a:prstGeom prst="ellipse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78892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39512" y="2679192"/>
            <a:ext cx="35021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administrativo para bancos de sangre: crear y gestionar alertas.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410712"/>
            <a:ext cx="41605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593592"/>
            <a:ext cx="301752" cy="301752"/>
          </a:xfrm>
          <a:prstGeom prst="ellipse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9359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" y="3483864"/>
            <a:ext cx="35021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dual (push web + correo) por compatibilidad y localidad.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410712"/>
            <a:ext cx="41605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593592"/>
            <a:ext cx="301752" cy="301752"/>
          </a:xfrm>
          <a:prstGeom prst="ellipse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59359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39512" y="3483864"/>
            <a:ext cx="35021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 disponibilidad con enlace directo al banco de sangre.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4215384"/>
            <a:ext cx="8503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398264"/>
            <a:ext cx="301752" cy="301752"/>
          </a:xfrm>
          <a:prstGeom prst="ellipse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39826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0392" y="4288536"/>
            <a:ext cx="78455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 MySQL para usuarios, alertas y donaciones.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Detalle de la Solución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160520" cy="1051560"/>
          </a:xfrm>
          <a:prstGeom prst="rect">
            <a:avLst/>
          </a:prstGeom>
          <a:solidFill>
            <a:srgbClr val="E0F5F3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4160520" cy="64008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749808" cy="749808"/>
          </a:xfrm>
          <a:prstGeom prst="ellipse">
            <a:avLst/>
          </a:prstGeom>
          <a:solidFill>
            <a:srgbClr val="1A9B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9786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53312" y="13258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Donante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5488" y="2496312"/>
            <a:ext cx="109728" cy="109728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238658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 tipo sanguíneo y ubicación geográfica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916936"/>
            <a:ext cx="3749040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3154680"/>
            <a:ext cx="109728" cy="109728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30449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 alertas personalizadas compatibles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575304"/>
            <a:ext cx="3749040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3813048"/>
            <a:ext cx="109728" cy="109728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7033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o declinar disponibilidad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233672"/>
            <a:ext cx="3749040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4471416"/>
            <a:ext cx="109728" cy="109728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436168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directo con banco de sangre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00600" y="1097280"/>
            <a:ext cx="4160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1097280"/>
            <a:ext cx="4160520" cy="1051560"/>
          </a:xfrm>
          <a:prstGeom prst="rect">
            <a:avLst/>
          </a:prstGeom>
          <a:solidFill>
            <a:srgbClr val="FFE8E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1097280"/>
            <a:ext cx="4160520" cy="64008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1234440"/>
            <a:ext cx="749808" cy="749808"/>
          </a:xfrm>
          <a:prstGeom prst="ellipse">
            <a:avLst/>
          </a:prstGeom>
          <a:solidFill>
            <a:srgbClr val="E844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19786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879592" y="13258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Banco de Sangre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01768" y="2496312"/>
            <a:ext cx="109728" cy="109728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02936" y="238658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alertas de desabastecimiento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983480" y="2916936"/>
            <a:ext cx="3749040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01768" y="3154680"/>
            <a:ext cx="109728" cy="109728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02936" y="30449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Especificar tipo sanguíneo y zona geográfica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983480" y="3575304"/>
            <a:ext cx="3749040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01768" y="3813048"/>
            <a:ext cx="109728" cy="109728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02936" y="37033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lista de donantes confirmados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983480" y="4233672"/>
            <a:ext cx="3749040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01768" y="4471416"/>
            <a:ext cx="109728" cy="109728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02936" y="436168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citas y seguimiento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Metodología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— 5 Etapas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1371600" cy="13716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844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444752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💡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143000" y="2651760"/>
            <a:ext cx="292608" cy="292608"/>
          </a:xfrm>
          <a:prstGeom prst="ellipse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29992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Empatizar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91640" y="2167128"/>
            <a:ext cx="292608" cy="0"/>
          </a:xfrm>
          <a:prstGeom prst="line">
            <a:avLst/>
          </a:prstGeom>
          <a:noFill/>
          <a:ln w="19050">
            <a:solidFill>
              <a:srgbClr val="B0BAC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011680" y="1481328"/>
            <a:ext cx="1371600" cy="13716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11680" y="1444752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2880360" y="2651760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65960" y="29992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29000" y="2167128"/>
            <a:ext cx="292608" cy="0"/>
          </a:xfrm>
          <a:prstGeom prst="line">
            <a:avLst/>
          </a:prstGeom>
          <a:noFill/>
          <a:ln w="19050">
            <a:solidFill>
              <a:srgbClr val="B0BAC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749040" y="1481328"/>
            <a:ext cx="1371600" cy="13716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A9B8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49040" y="1444752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4617720" y="2651760"/>
            <a:ext cx="292608" cy="292608"/>
          </a:xfrm>
          <a:prstGeom prst="ellipse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03320" y="29992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66360" y="2167128"/>
            <a:ext cx="292608" cy="0"/>
          </a:xfrm>
          <a:prstGeom prst="line">
            <a:avLst/>
          </a:prstGeom>
          <a:noFill/>
          <a:ln w="19050">
            <a:solidFill>
              <a:srgbClr val="B0BAC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486400" y="1481328"/>
            <a:ext cx="1371600" cy="13716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ECC9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0" y="1444752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🔧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6355080" y="2651760"/>
            <a:ext cx="292608" cy="292608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40680" y="29992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03720" y="2167128"/>
            <a:ext cx="292608" cy="0"/>
          </a:xfrm>
          <a:prstGeom prst="line">
            <a:avLst/>
          </a:prstGeom>
          <a:noFill/>
          <a:ln w="19050">
            <a:solidFill>
              <a:srgbClr val="B0BAC8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7223760" y="1481328"/>
            <a:ext cx="1371600" cy="13716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23760" y="1444752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32" name="Shape 30"/>
          <p:cNvSpPr/>
          <p:nvPr/>
        </p:nvSpPr>
        <p:spPr>
          <a:xfrm>
            <a:off x="8092440" y="265176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9244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78040" y="29992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Testear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" y="3520440"/>
            <a:ext cx="8503920" cy="54864"/>
          </a:xfrm>
          <a:prstGeom prst="rect">
            <a:avLst/>
          </a:prstGeom>
          <a:solidFill>
            <a:srgbClr val="DDE4E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611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0040" y="4005072"/>
            <a:ext cx="201168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9B8C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4005072"/>
            <a:ext cx="2011680" cy="64008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" y="409651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JS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93192" y="444398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496312" y="4005072"/>
            <a:ext cx="201168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496312" y="4005072"/>
            <a:ext cx="201168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9464" y="409651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569464" y="444398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72584" y="4005072"/>
            <a:ext cx="201168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E8445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72584" y="4005072"/>
            <a:ext cx="2011680" cy="64008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45736" y="409651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745736" y="444398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48856" y="4005072"/>
            <a:ext cx="201168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C2B3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848856" y="4005072"/>
            <a:ext cx="2011680" cy="6400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22008" y="409651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922008" y="444398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Funcionalidades del Sistema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73152" cy="822960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298448"/>
            <a:ext cx="384048" cy="384048"/>
          </a:xfrm>
          <a:prstGeom prst="ellipse">
            <a:avLst/>
          </a:prstGeom>
          <a:solidFill>
            <a:srgbClr val="1A9B8C">
              <a:alpha val="15000"/>
            </a:srgbClr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11704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inicio de sesión con roles diferenciados (Donante / Banco de Sangre)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078992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78992"/>
            <a:ext cx="73152" cy="822960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65192" y="1298448"/>
            <a:ext cx="384048" cy="384048"/>
          </a:xfrm>
          <a:prstGeom prst="ellipse">
            <a:avLst/>
          </a:prstGeom>
          <a:solidFill>
            <a:srgbClr val="1A9B8C">
              <a:alpha val="15000"/>
            </a:srgbClr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46904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58968" y="11704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perfil del donante: tipo sanguíneo, última donación, ubicación y preferencias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066544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066544"/>
            <a:ext cx="73152" cy="822960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2286000"/>
            <a:ext cx="384048" cy="384048"/>
          </a:xfrm>
          <a:prstGeom prst="ellipse">
            <a:avLst/>
          </a:prstGeom>
          <a:solidFill>
            <a:srgbClr val="E8445A">
              <a:alpha val="15000"/>
            </a:srgbClr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249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215798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banco de sangre: creación, edición y cierre de alertas por tipo y zona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2066544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066544"/>
            <a:ext cx="73152" cy="822960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65192" y="2286000"/>
            <a:ext cx="384048" cy="384048"/>
          </a:xfrm>
          <a:prstGeom prst="ellipse">
            <a:avLst/>
          </a:prstGeom>
          <a:solidFill>
            <a:srgbClr val="E8445A">
              <a:alpha val="15000"/>
            </a:srgbClr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46904" y="2249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📲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58968" y="215798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notificaciones: push notification y correo electrónico automático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054096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054096"/>
            <a:ext cx="73152" cy="82296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" y="3273552"/>
            <a:ext cx="384048" cy="384048"/>
          </a:xfrm>
          <a:prstGeom prst="ellipse">
            <a:avLst/>
          </a:prstGeom>
          <a:solidFill>
            <a:srgbClr val="2ECC9A">
              <a:alpha val="15000"/>
            </a:srgbClr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2688" y="314553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respuesta del donante: aceptar o declinar con justificación opcional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3054096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054096"/>
            <a:ext cx="73152" cy="82296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65192" y="3273552"/>
            <a:ext cx="384048" cy="384048"/>
          </a:xfrm>
          <a:prstGeom prst="ellipse">
            <a:avLst/>
          </a:prstGeom>
          <a:solidFill>
            <a:srgbClr val="2ECC9A">
              <a:alpha val="15000"/>
            </a:srgbClr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46904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58968" y="314553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donantes confirmados con datos de contacto y coordinación de cita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4041648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4041648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" y="4261104"/>
            <a:ext cx="384048" cy="38404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4224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32688" y="41330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donaciones y alertas para donantes y bancos de sangre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00600" y="4041648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4041648"/>
            <a:ext cx="73152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65192" y="4261104"/>
            <a:ext cx="384048" cy="384048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46904" y="4224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458968" y="41330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 general: gestión de usuarios y reportes del sistema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Mapa de la Solución (Sitemap)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154680" y="1051560"/>
            <a:ext cx="2834640" cy="530352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154680" y="105156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HemoLink (Landing Page)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581912"/>
            <a:ext cx="0" cy="246888"/>
          </a:xfrm>
          <a:prstGeom prst="line">
            <a:avLst/>
          </a:prstGeom>
          <a:noFill/>
          <a:ln w="19050">
            <a:solidFill>
              <a:srgbClr val="B0BA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1828800"/>
            <a:ext cx="6309360" cy="0"/>
          </a:xfrm>
          <a:prstGeom prst="line">
            <a:avLst/>
          </a:prstGeom>
          <a:noFill/>
          <a:ln w="19050">
            <a:solidFill>
              <a:srgbClr val="B0BA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828800"/>
            <a:ext cx="0" cy="246888"/>
          </a:xfrm>
          <a:prstGeom prst="line">
            <a:avLst/>
          </a:prstGeom>
          <a:noFill/>
          <a:ln w="19050">
            <a:solidFill>
              <a:srgbClr val="B0BA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2075688"/>
            <a:ext cx="2468880" cy="47548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2880" y="207568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/ Login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0" cy="246888"/>
          </a:xfrm>
          <a:prstGeom prst="line">
            <a:avLst/>
          </a:prstGeom>
          <a:noFill/>
          <a:ln w="19050">
            <a:solidFill>
              <a:srgbClr val="B0BA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2075688"/>
            <a:ext cx="2468880" cy="475488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54680" y="207568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Donante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0" y="1828800"/>
            <a:ext cx="0" cy="246888"/>
          </a:xfrm>
          <a:prstGeom prst="line">
            <a:avLst/>
          </a:prstGeom>
          <a:noFill/>
          <a:ln w="19050">
            <a:solidFill>
              <a:srgbClr val="B0BA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075688"/>
            <a:ext cx="2468880" cy="475488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207568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Banco de Sangre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17320" y="2551176"/>
            <a:ext cx="0" cy="237744"/>
          </a:xfrm>
          <a:prstGeom prst="line">
            <a:avLst/>
          </a:prstGeom>
          <a:noFill/>
          <a:ln w="12700">
            <a:solidFill>
              <a:srgbClr val="C8D2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17320" y="2788920"/>
            <a:ext cx="228600" cy="0"/>
          </a:xfrm>
          <a:prstGeom prst="line">
            <a:avLst/>
          </a:prstGeom>
          <a:noFill/>
          <a:ln w="12700">
            <a:solidFill>
              <a:srgbClr val="C8D2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651760"/>
            <a:ext cx="2148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651760"/>
            <a:ext cx="54864" cy="40233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65176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417320" y="2551176"/>
            <a:ext cx="0" cy="749808"/>
          </a:xfrm>
          <a:prstGeom prst="line">
            <a:avLst/>
          </a:prstGeom>
          <a:noFill/>
          <a:ln w="12700">
            <a:solidFill>
              <a:srgbClr val="C8D2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17320" y="3300984"/>
            <a:ext cx="228600" cy="0"/>
          </a:xfrm>
          <a:prstGeom prst="line">
            <a:avLst/>
          </a:prstGeom>
          <a:noFill/>
          <a:ln w="12700">
            <a:solidFill>
              <a:srgbClr val="C8D2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163824"/>
            <a:ext cx="2148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163824"/>
            <a:ext cx="54864" cy="40233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16382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Sangre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89120" y="2551176"/>
            <a:ext cx="0" cy="237744"/>
          </a:xfrm>
          <a:prstGeom prst="line">
            <a:avLst/>
          </a:prstGeom>
          <a:noFill/>
          <a:ln w="12700">
            <a:solidFill>
              <a:srgbClr val="C8D2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0" y="2788920"/>
            <a:ext cx="228600" cy="0"/>
          </a:xfrm>
          <a:prstGeom prst="line">
            <a:avLst/>
          </a:prstGeom>
          <a:noFill/>
          <a:ln w="12700">
            <a:solidFill>
              <a:srgbClr val="C8D2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0" y="2651760"/>
            <a:ext cx="2148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2651760"/>
            <a:ext cx="54864" cy="402336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265176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Perfil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89120" y="2551176"/>
            <a:ext cx="0" cy="749808"/>
          </a:xfrm>
          <a:prstGeom prst="line">
            <a:avLst/>
          </a:prstGeom>
          <a:noFill/>
          <a:ln w="12700">
            <a:solidFill>
              <a:srgbClr val="C8D2D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0" y="3300984"/>
            <a:ext cx="228600" cy="0"/>
          </a:xfrm>
          <a:prstGeom prst="line">
            <a:avLst/>
          </a:prstGeom>
          <a:noFill/>
          <a:ln w="12700">
            <a:solidFill>
              <a:srgbClr val="C8D2D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91840" y="3163824"/>
            <a:ext cx="2148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3163824"/>
            <a:ext cx="54864" cy="402336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10712" y="316382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Activas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389120" y="2551176"/>
            <a:ext cx="0" cy="1261872"/>
          </a:xfrm>
          <a:prstGeom prst="line">
            <a:avLst/>
          </a:prstGeom>
          <a:noFill/>
          <a:ln w="12700">
            <a:solidFill>
              <a:srgbClr val="C8D2D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89120" y="3813048"/>
            <a:ext cx="228600" cy="0"/>
          </a:xfrm>
          <a:prstGeom prst="line">
            <a:avLst/>
          </a:prstGeom>
          <a:noFill/>
          <a:ln w="12700">
            <a:solidFill>
              <a:srgbClr val="C8D2D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1840" y="3675888"/>
            <a:ext cx="2148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3675888"/>
            <a:ext cx="54864" cy="402336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10712" y="367588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498080" y="2551176"/>
            <a:ext cx="0" cy="237744"/>
          </a:xfrm>
          <a:prstGeom prst="line">
            <a:avLst/>
          </a:prstGeom>
          <a:noFill/>
          <a:ln w="12700">
            <a:solidFill>
              <a:srgbClr val="C8D2D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98080" y="2788920"/>
            <a:ext cx="228600" cy="0"/>
          </a:xfrm>
          <a:prstGeom prst="line">
            <a:avLst/>
          </a:prstGeom>
          <a:noFill/>
          <a:ln w="12700">
            <a:solidFill>
              <a:srgbClr val="C8D2D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2651760"/>
            <a:ext cx="2148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0" y="2651760"/>
            <a:ext cx="54864" cy="402336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9672" y="265176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498080" y="2551176"/>
            <a:ext cx="0" cy="749808"/>
          </a:xfrm>
          <a:prstGeom prst="line">
            <a:avLst/>
          </a:prstGeom>
          <a:noFill/>
          <a:ln w="12700">
            <a:solidFill>
              <a:srgbClr val="C8D2D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98080" y="3300984"/>
            <a:ext cx="228600" cy="0"/>
          </a:xfrm>
          <a:prstGeom prst="line">
            <a:avLst/>
          </a:prstGeom>
          <a:noFill/>
          <a:ln w="12700">
            <a:solidFill>
              <a:srgbClr val="C8D2D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0800" y="3163824"/>
            <a:ext cx="2148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00800" y="3163824"/>
            <a:ext cx="54864" cy="402336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19672" y="316382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Alerta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498080" y="2551176"/>
            <a:ext cx="0" cy="1261872"/>
          </a:xfrm>
          <a:prstGeom prst="line">
            <a:avLst/>
          </a:prstGeom>
          <a:noFill/>
          <a:ln w="12700">
            <a:solidFill>
              <a:srgbClr val="C8D2D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98080" y="3813048"/>
            <a:ext cx="228600" cy="0"/>
          </a:xfrm>
          <a:prstGeom prst="line">
            <a:avLst/>
          </a:prstGeom>
          <a:noFill/>
          <a:ln w="12700">
            <a:solidFill>
              <a:srgbClr val="C8D2D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00800" y="3675888"/>
            <a:ext cx="2148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00800" y="3675888"/>
            <a:ext cx="54864" cy="402336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19672" y="367588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Donantes Conf.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498080" y="2551176"/>
            <a:ext cx="0" cy="1773936"/>
          </a:xfrm>
          <a:prstGeom prst="line">
            <a:avLst/>
          </a:prstGeom>
          <a:noFill/>
          <a:ln w="12700">
            <a:solidFill>
              <a:srgbClr val="C8D2D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98080" y="4325112"/>
            <a:ext cx="228600" cy="0"/>
          </a:xfrm>
          <a:prstGeom prst="line">
            <a:avLst/>
          </a:prstGeom>
          <a:noFill/>
          <a:ln w="12700">
            <a:solidFill>
              <a:srgbClr val="C8D2D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00800" y="4187952"/>
            <a:ext cx="2148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00800" y="4187952"/>
            <a:ext cx="54864" cy="402336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19672" y="4187952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0040" y="4645152"/>
            <a:ext cx="7315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" y="4645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Panel de Administración:  Gestión de usuarios  •  Reportes del sistema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926080"/>
            <a:ext cx="4114800" cy="4114800"/>
          </a:xfrm>
          <a:prstGeom prst="ellipse">
            <a:avLst/>
          </a:prstGeom>
          <a:solidFill>
            <a:srgbClr val="243447"/>
          </a:solidFill>
          <a:ln w="254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657600"/>
            <a:ext cx="2743200" cy="2743200"/>
          </a:xfrm>
          <a:prstGeom prst="ellipse">
            <a:avLst/>
          </a:prstGeom>
          <a:solidFill>
            <a:srgbClr val="1A9B8C">
              <a:alpha val="12000"/>
            </a:srgbClr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-914400"/>
            <a:ext cx="2286000" cy="2286000"/>
          </a:xfrm>
          <a:prstGeom prst="ellipse">
            <a:avLst/>
          </a:prstGeom>
          <a:solidFill>
            <a:srgbClr val="1A9B8C">
              <a:alpha val="18000"/>
            </a:srgbClr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502920"/>
            <a:ext cx="822960" cy="822960"/>
          </a:xfrm>
          <a:prstGeom prst="ellipse">
            <a:avLst/>
          </a:prstGeom>
          <a:solidFill>
            <a:srgbClr val="1A9B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663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🩸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37360" y="56692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Admin  /  HemoLink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508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HemoLink</a:t>
            </a:r>
            <a:endParaRPr lang="en-US" sz="5400" dirty="0"/>
          </a:p>
        </p:txBody>
      </p:sp>
      <p:sp>
        <p:nvSpPr>
          <p:cNvPr id="11" name="Shape 9"/>
          <p:cNvSpPr/>
          <p:nvPr/>
        </p:nvSpPr>
        <p:spPr>
          <a:xfrm>
            <a:off x="777240" y="2560320"/>
            <a:ext cx="27432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97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donantes con quienes más lo necesitan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4,890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77240" y="40050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Donantes Activos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37560" y="40050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Afiliados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94.8%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897880" y="40050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Operativa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5079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jarce80641  •  marias60679  •  ogarita60081  •  alopez49218  @ufide.ac.cr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HemoLink</dc:title>
  <dc:subject>PptxGenJS Presentation</dc:subject>
  <dc:creator>PptxGenJS</dc:creator>
  <cp:lastModifiedBy>PptxGenJS</cp:lastModifiedBy>
  <cp:revision>1</cp:revision>
  <dcterms:created xsi:type="dcterms:W3CDTF">2026-06-05T23:18:49Z</dcterms:created>
  <dcterms:modified xsi:type="dcterms:W3CDTF">2026-06-05T23:18:49Z</dcterms:modified>
</cp:coreProperties>
</file>